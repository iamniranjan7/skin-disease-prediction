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D737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-457200"/>
            <a:ext cx="2011680" cy="2011680"/>
          </a:xfrm>
          <a:prstGeom prst="ellipse">
            <a:avLst/>
          </a:prstGeom>
          <a:solidFill>
            <a:srgbClr val="14A085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0D7377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972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Disease Prediction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Erythemato-Squamous Disease Classification using Machine Learning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02920" y="2788920"/>
            <a:ext cx="4114800" cy="36576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3017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Dermatology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06040" y="3017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06040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09160" y="3017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812280" y="3017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Diseases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12280" y="33649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· Data Science Capstone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274320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38912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1024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diagnosis of 6 erythemato-squamous skin diseases is clinically challenging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2402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diseases share erythema &amp; scaling features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880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 alone is insufficient — needs ML support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86868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868680"/>
            <a:ext cx="2743200" cy="640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3364992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86200" y="1024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1600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366 patient records from UCI repository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37560" y="22402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Clinical features (severity 0–3)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37560" y="2880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Histopathological features (biopsy)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352044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demographic feature (Age)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868680"/>
            <a:ext cx="2743200" cy="3977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868680"/>
            <a:ext cx="2743200" cy="64008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21" name="Text 19"/>
          <p:cNvSpPr/>
          <p:nvPr/>
        </p:nvSpPr>
        <p:spPr>
          <a:xfrm>
            <a:off x="6291072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12280" y="102412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63640" y="16002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model to classify 6 skin diseases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63640" y="224028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diagnostic features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88036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actionable clinical recommendations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Exploratory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512064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37160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Psoriasis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965960" y="1426464"/>
            <a:ext cx="2743200" cy="27432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137160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112 (30.6%)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1109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Lichen Planus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965960" y="1965960"/>
            <a:ext cx="1763486" cy="2743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1" name="Text 9"/>
          <p:cNvSpPr/>
          <p:nvPr/>
        </p:nvSpPr>
        <p:spPr>
          <a:xfrm>
            <a:off x="3820886" y="1911096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(19.7%)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4505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Seboreic Derm.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965960" y="2505456"/>
            <a:ext cx="1494064" cy="2743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2"/>
          <p:cNvSpPr/>
          <p:nvPr/>
        </p:nvSpPr>
        <p:spPr>
          <a:xfrm>
            <a:off x="3551464" y="245059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 (16.7%)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99008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Derm.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965960" y="3044952"/>
            <a:ext cx="1273629" cy="27432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17" name="Text 15"/>
          <p:cNvSpPr/>
          <p:nvPr/>
        </p:nvSpPr>
        <p:spPr>
          <a:xfrm>
            <a:off x="3331029" y="2990088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(14.2%)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352958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Pityriasis Rosea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65960" y="3584448"/>
            <a:ext cx="1200150" cy="2743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3257550" y="352958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(13.4%)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06908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Pityriasis Rubra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965960" y="4123944"/>
            <a:ext cx="489857" cy="27432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23" name="Text 21"/>
          <p:cNvSpPr/>
          <p:nvPr/>
        </p:nvSpPr>
        <p:spPr>
          <a:xfrm>
            <a:off x="2547257" y="4069080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(5.5%)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822960"/>
            <a:ext cx="3291840" cy="4023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9144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EDA Findings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669280" y="138988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⚠️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080760" y="138988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Age values had '?' — imputed with median (35 yrs)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669280" y="192938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📊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080760" y="1929384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imbalance: Psoriasis 5.6× more than Pityriasis Rubra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69280" y="246888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🔗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080760" y="24688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Thinning of suprapapillary epidermis: highest correlation with target (r=0.685)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69280" y="300837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🔬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080760" y="300837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Histopathological features more discriminative than clinical ones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669280" y="354787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👨‍👩‍👧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080760" y="354787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significant predictor for Psoriasis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669280" y="408736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</a:rPr>
              <a:t>📅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080760" y="4087368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range: 0–75 years, mean 36.3 years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Report – 9 ML Models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8595360" cy="4160520"/>
        </p:xfrm>
        <a:graphic>
          <a:graphicData uri="http://schemas.openxmlformats.org/drawingml/2006/table">
            <a:tbl>
              <a:tblPr/>
              <a:tblGrid>
                <a:gridCol w="2103120"/>
                <a:gridCol w="1280160"/>
                <a:gridCol w="1280160"/>
                <a:gridCol w="1280160"/>
                <a:gridCol w="1280160"/>
                <a:gridCol w="1280160"/>
              </a:tblGrid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Accuracy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Macro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🏆 SVM (RBF)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96.11%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Trees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96.57%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91.25%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90.62%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87.78%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K-Nearest Neighbors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90.54%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Naive Bayes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89.72%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88.13%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85.83%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0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AdaBoost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45.91%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44.64%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51.33%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SVM with RBF Kernel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1920240" cy="64008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1572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41448" y="804672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41448" y="804672"/>
            <a:ext cx="1920240" cy="64008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2441448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96.97%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1448" y="1572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08576" y="804672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08576" y="804672"/>
            <a:ext cx="1920240" cy="64008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97.22%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608576" y="1572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75704" y="804672"/>
            <a:ext cx="192024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75704" y="804672"/>
            <a:ext cx="192024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8" name="Text 16"/>
          <p:cNvSpPr/>
          <p:nvPr/>
        </p:nvSpPr>
        <p:spPr>
          <a:xfrm>
            <a:off x="6775704" y="9601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97.22%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775704" y="157276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" y="21488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Performance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560320"/>
          <a:ext cx="5029200" cy="233172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822960"/>
                <a:gridCol w="822960"/>
                <a:gridCol w="640080"/>
              </a:tblGrid>
              <a:tr h="3331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 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Psoriasis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Seboreic Dermatitis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Lichen Planus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Pityriasis Rosea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Chronic Dermatitis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103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Pityriasis Rubra Pilaris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F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9"/>
          <p:cNvSpPr/>
          <p:nvPr/>
        </p:nvSpPr>
        <p:spPr>
          <a:xfrm>
            <a:off x="5486400" y="2148840"/>
            <a:ext cx="338328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0" y="2148840"/>
            <a:ext cx="338328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4" name="Text 21"/>
          <p:cNvSpPr/>
          <p:nvPr/>
        </p:nvSpPr>
        <p:spPr>
          <a:xfrm>
            <a:off x="5623560" y="2212848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SVM Wins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577840" y="263347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Effective in high-dimensional spaces with small sample size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577840" y="306324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 captures non-linear decision boundaries between similar diseases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577840" y="349300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CV: 97.60% ± 0.009 (very low variance)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577840" y="392277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all tree-based models on this ordinal data</a:t>
            </a:r>
            <a:endParaRPr lang="en-US" sz="950" dirty="0"/>
          </a:p>
        </p:txBody>
      </p:sp>
      <p:sp>
        <p:nvSpPr>
          <p:cNvPr id="29" name="Text 26"/>
          <p:cNvSpPr/>
          <p:nvPr/>
        </p:nvSpPr>
        <p:spPr>
          <a:xfrm>
            <a:off x="5577840" y="435254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 misclassifications in 74 test records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Diagnostic Features (Random Forest Importance)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594360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6012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Clubbing of rete ridges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560320" y="1014984"/>
            <a:ext cx="3840480" cy="23774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6492240" y="96012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0.0990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365760" y="134416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Fibrosis of papillary dermis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399032"/>
            <a:ext cx="2957170" cy="237744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10" name="Text 8"/>
          <p:cNvSpPr/>
          <p:nvPr/>
        </p:nvSpPr>
        <p:spPr>
          <a:xfrm>
            <a:off x="5608930" y="134416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172821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Thinning suprapapillary epidermis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560320" y="1783080"/>
            <a:ext cx="2726741" cy="23774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3" name="Text 11"/>
          <p:cNvSpPr/>
          <p:nvPr/>
        </p:nvSpPr>
        <p:spPr>
          <a:xfrm>
            <a:off x="5378501" y="172821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211226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Koebner phenomenon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560320" y="2167128"/>
            <a:ext cx="2496312" cy="237744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16" name="Text 14"/>
          <p:cNvSpPr/>
          <p:nvPr/>
        </p:nvSpPr>
        <p:spPr>
          <a:xfrm>
            <a:off x="5148072" y="211226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0.0639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65760" y="249631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Spongiosis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2551176"/>
            <a:ext cx="2304288" cy="237744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19" name="Text 17"/>
          <p:cNvSpPr/>
          <p:nvPr/>
        </p:nvSpPr>
        <p:spPr>
          <a:xfrm>
            <a:off x="4956048" y="249631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0.0596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65760" y="28803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Elongation of rete ridges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60320" y="2935224"/>
            <a:ext cx="2112264" cy="23774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4764024" y="2880360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0.0541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65760" y="3264408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infiltrate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560320" y="3319272"/>
            <a:ext cx="1613002" cy="237744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5" name="Text 23"/>
          <p:cNvSpPr/>
          <p:nvPr/>
        </p:nvSpPr>
        <p:spPr>
          <a:xfrm>
            <a:off x="4264762" y="326440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0.0414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65760" y="364845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Vacuolisation/damage of basal layer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560320" y="3703320"/>
            <a:ext cx="1613002" cy="23774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28" name="Text 26"/>
          <p:cNvSpPr/>
          <p:nvPr/>
        </p:nvSpPr>
        <p:spPr>
          <a:xfrm>
            <a:off x="4264762" y="364845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0.0411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65760" y="403250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Band-like infiltrate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560320" y="4087368"/>
            <a:ext cx="1536192" cy="23774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1" name="Text 29"/>
          <p:cNvSpPr/>
          <p:nvPr/>
        </p:nvSpPr>
        <p:spPr>
          <a:xfrm>
            <a:off x="4187952" y="4032504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0.0394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65760" y="44165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hypergranulosis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560320" y="4471416"/>
            <a:ext cx="1497787" cy="237744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34" name="Text 32"/>
          <p:cNvSpPr/>
          <p:nvPr/>
        </p:nvSpPr>
        <p:spPr>
          <a:xfrm>
            <a:off x="4149547" y="44165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0.0385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65760" y="4663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Importance Score (Random Forest)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400800" y="804672"/>
            <a:ext cx="2468880" cy="4160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92240" y="914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Type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92240" y="1371600"/>
            <a:ext cx="2240280" cy="502920"/>
          </a:xfrm>
          <a:prstGeom prst="rect">
            <a:avLst/>
          </a:prstGeom>
          <a:solidFill>
            <a:srgbClr val="0D7377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492240" y="138988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92240" y="164592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Histopathological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92240" y="2011680"/>
            <a:ext cx="2240280" cy="502920"/>
          </a:xfrm>
          <a:prstGeom prst="rect">
            <a:avLst/>
          </a:prstGeom>
          <a:solidFill>
            <a:srgbClr val="F4A823">
              <a:alpha val="20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6492240" y="202996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92240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492240" y="2743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92240" y="3035808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Biopsy-level (histopathological) features dominate importance — confirming that microscopy is essential for accurate differential diagnosis.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Disease-Specific Diagnostic Markers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411480"/>
          </a:xfrm>
          <a:prstGeom prst="rect">
            <a:avLst/>
          </a:prstGeom>
          <a:solidFill>
            <a:srgbClr val="3498DB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87782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Psoriasis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3258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PNL infiltrate ↑↑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38328" y="176479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Scalp involvement ↑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38328" y="220370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Clubbing of rete ridges ↑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8229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822960"/>
            <a:ext cx="2743200" cy="4114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3282696" y="87782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Seboreic Derm.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82696" y="13258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Spongiosis ↑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82696" y="176479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Exocytosis ↑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82696" y="220370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Scalp involvement ↑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17336" y="82296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17336" y="822960"/>
            <a:ext cx="2743200" cy="41148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8" name="Text 16"/>
          <p:cNvSpPr/>
          <p:nvPr/>
        </p:nvSpPr>
        <p:spPr>
          <a:xfrm>
            <a:off x="6227064" y="87782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Lichen Planus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27064" y="132588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Band-like infiltrate ↑↑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227064" y="176479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Vacuolisation basal layer ↑↑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27064" y="220370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Polygonal papules ↑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292608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28600" y="2926080"/>
            <a:ext cx="2743200" cy="4114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338328" y="298094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Pityriasis Rosea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38328" y="342900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hypergranulosis ↑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" y="386791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Definite borders ↑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" y="430682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Itching ↑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172968" y="292608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172968" y="2926080"/>
            <a:ext cx="2743200" cy="411480"/>
          </a:xfrm>
          <a:prstGeom prst="rect">
            <a:avLst/>
          </a:prstGeom>
          <a:solidFill>
            <a:srgbClr val="9B59B6"/>
          </a:solidFill>
          <a:ln/>
        </p:spPr>
      </p:sp>
      <p:sp>
        <p:nvSpPr>
          <p:cNvPr id="30" name="Text 28"/>
          <p:cNvSpPr/>
          <p:nvPr/>
        </p:nvSpPr>
        <p:spPr>
          <a:xfrm>
            <a:off x="3282696" y="298094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Dermatitis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82696" y="342900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Spongiosis ↑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82696" y="386791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Exocytosis ↑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282696" y="430682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Parakeratosis ↑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117336" y="2926080"/>
            <a:ext cx="27432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17336" y="2926080"/>
            <a:ext cx="2743200" cy="411480"/>
          </a:xfrm>
          <a:prstGeom prst="rect">
            <a:avLst/>
          </a:prstGeom>
          <a:solidFill>
            <a:srgbClr val="1ABC9C"/>
          </a:solidFill>
          <a:ln/>
        </p:spPr>
      </p:sp>
      <p:sp>
        <p:nvSpPr>
          <p:cNvPr id="36" name="Text 34"/>
          <p:cNvSpPr/>
          <p:nvPr/>
        </p:nvSpPr>
        <p:spPr>
          <a:xfrm>
            <a:off x="6227064" y="2980944"/>
            <a:ext cx="2542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Pityriasis Rubra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27064" y="3429000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Follicular horn plug ↑↑↑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27064" y="3867912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Perifollicular parakeratosis ↑↑↑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227064" y="4306824"/>
            <a:ext cx="25420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pPr indent="0" marL="0">
              <a:buNone/>
            </a:pPr>
            <a:r>
              <a:rPr lang="en-US" sz="9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Follicular papules ↑↑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Recommendations for Doctors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59536"/>
            <a:ext cx="685800" cy="3108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" y="85953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005840" y="80467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early biopsy for all erythema + scaling cases — histopathological features are the primary discriminators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1389888"/>
            <a:ext cx="685800" cy="310896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138988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005840" y="133502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</a:t>
            </a:r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ALL features on 0–3 scale (never binary) — graded severity significantly improves ML classification accuracy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920240"/>
            <a:ext cx="685800" cy="31089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92024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005840" y="186537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</a:t>
            </a:r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band-like infiltrate in biopsy — near-perfect marker for Lichen Planus (Δ = +1.84 vs other classes)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450592"/>
            <a:ext cx="685800" cy="31089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245059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005840" y="239572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</a:t>
            </a:r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 follicular horn plug &amp; perifollicular parakeratosis — almost exclusive to Pityriasis Rubra Pilaris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980944"/>
            <a:ext cx="685800" cy="310896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298094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1005840" y="292608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 </a:t>
            </a:r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PNL infiltrate and scalp involvement — top differentiators for Psoriasis from all other diseases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3511296"/>
            <a:ext cx="685800" cy="3108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351129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005840" y="3456432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</a:t>
            </a:r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family history (0/1) — Psoriasis shows strong hereditary component that aids early identification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28600" y="4041648"/>
            <a:ext cx="685800" cy="3108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404164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005840" y="3986784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</a:t>
            </a:r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ML model as a second opinion — SVM achieves 97.3% accuracy across all 6 disease classes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28600" y="4572000"/>
            <a:ext cx="685800" cy="310896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457200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1005840" y="451713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</a:t>
            </a:r>
            <a:pPr indent="0" marL="0">
              <a:buNone/>
            </a:pPr>
            <a:r>
              <a:rPr lang="en-US" sz="10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indefinitely for unclear cases — diseases may mimic each other early and evolve features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 &amp; Solutions Applied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73152" cy="13258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393192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Missing Age Values ('?')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93192" y="126187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Median imputation — robust to age skew; preserves distribution shape; only 2.2% records affected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663440" y="822960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822960"/>
            <a:ext cx="73152" cy="13258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4828032" y="89611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Class Imbalance (6 Classes)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828032" y="1261872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Stratified K-Fold CV + F1-Macro metric — ensures minority class (Pityriasis Rubra, n=20) gets equal weight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28600" y="2258568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2258568"/>
            <a:ext cx="73152" cy="1325880"/>
          </a:xfrm>
          <a:prstGeom prst="rect">
            <a:avLst/>
          </a:prstGeom>
          <a:solidFill>
            <a:srgbClr val="F4A823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High Dimensionality (34 features / 366 records)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3192" y="269748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5-fold CV + ensemble models + feature importance ranking — prevents overfitting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2258568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258568"/>
            <a:ext cx="73152" cy="1325880"/>
          </a:xfrm>
          <a:prstGeom prst="rect">
            <a:avLst/>
          </a:prstGeom>
          <a:solidFill>
            <a:srgbClr val="14A085"/>
          </a:solidFill>
          <a:ln/>
        </p:spPr>
      </p:sp>
      <p:sp>
        <p:nvSpPr>
          <p:cNvPr id="18" name="Text 16"/>
          <p:cNvSpPr/>
          <p:nvPr/>
        </p:nvSpPr>
        <p:spPr>
          <a:xfrm>
            <a:off x="4828032" y="23317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Mixed Feature Scales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28032" y="2697480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StandardScaler applied ONLY to SVM/KNN/LR; tree models used raw ordinal values (scale-invariant)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3694176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28600" y="3694176"/>
            <a:ext cx="73152" cy="13258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2" name="Text 20"/>
          <p:cNvSpPr/>
          <p:nvPr/>
        </p:nvSpPr>
        <p:spPr>
          <a:xfrm>
            <a:off x="393192" y="3767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AdaBoost Failure (64.9% accuracy)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93192" y="413308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Identified as unsuitable — decision stumps struggle with complex 6-class ordinal data; excluded from recommendation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3694176"/>
            <a:ext cx="4206240" cy="1325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694176"/>
            <a:ext cx="73152" cy="13258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6" name="Text 24"/>
          <p:cNvSpPr/>
          <p:nvPr/>
        </p:nvSpPr>
        <p:spPr>
          <a:xfrm>
            <a:off x="4828032" y="37673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Interpretability vs Accuracy Trade-off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28032" y="4133088"/>
            <a:ext cx="3931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Dual approach: SVM for production predictions + Random Forest for clinical feature explanation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D7377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731520" y="-457200"/>
            <a:ext cx="2743200" cy="2743200"/>
          </a:xfrm>
          <a:prstGeom prst="ellipse">
            <a:avLst/>
          </a:prstGeom>
          <a:solidFill>
            <a:srgbClr val="14A085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572000" cy="457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97.3%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(SVM)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96.97%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56032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 Score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66344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6344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Evaluated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766560" y="11887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766560" y="1783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Analysed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5120640" cy="1371600"/>
          </a:xfrm>
          <a:prstGeom prst="rect">
            <a:avLst/>
          </a:prstGeom>
          <a:solidFill>
            <a:srgbClr val="0D7377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3591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8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Production Recommendation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4360" y="272491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SVM (RBF Kernel) as the primary clinical decision-support tool. Use Random Forest alongside it for feature-level explanations to doctors and regulatory compliance.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94760"/>
            <a:ext cx="8321040" cy="1097280"/>
          </a:xfrm>
          <a:prstGeom prst="rect">
            <a:avLst/>
          </a:prstGeom>
          <a:solidFill>
            <a:srgbClr val="0D7377">
              <a:alpha val="12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385876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Histopathological biopsy features are critical — clinical features alone are insufficient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4187952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SVM with RBF kernel outperforms all 9 models evaluated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4517136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10 prioritised clinical recommendations generated for early disease detection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Disease Prediction – Key Findings</dc:title>
  <dc:subject>PptxGenJS Presentation</dc:subject>
  <dc:creator>PptxGenJS</dc:creator>
  <cp:lastModifiedBy>PptxGenJS</cp:lastModifiedBy>
  <cp:revision>1</cp:revision>
  <dcterms:created xsi:type="dcterms:W3CDTF">2026-03-21T06:36:12Z</dcterms:created>
  <dcterms:modified xsi:type="dcterms:W3CDTF">2026-03-21T06:36:12Z</dcterms:modified>
</cp:coreProperties>
</file>